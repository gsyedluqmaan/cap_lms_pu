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69" r:id="rId3"/>
    <p:sldId id="257" r:id="rId4"/>
    <p:sldId id="274" r:id="rId5"/>
    <p:sldId id="273" r:id="rId6"/>
    <p:sldId id="268" r:id="rId7"/>
    <p:sldId id="275" r:id="rId8"/>
    <p:sldId id="276" r:id="rId9"/>
    <p:sldId id="272" r:id="rId10"/>
    <p:sldId id="270" r:id="rId11"/>
    <p:sldId id="265"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www.thegyankosh.com/"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solidFill>
                  <a:schemeClr val="tx1"/>
                </a:solidFill>
                <a:latin typeface="Cambria" panose="02040503050406030204" pitchFamily="18" charset="0"/>
                <a:ea typeface="Cambria" panose="02040503050406030204" pitchFamily="18" charset="0"/>
              </a:rPr>
              <a:t>PSCS_162 Capacity building, performance assessment and </a:t>
            </a:r>
            <a:br>
              <a:rPr lang="en-US" sz="2400" dirty="0">
                <a:solidFill>
                  <a:schemeClr val="tx1"/>
                </a:solidFill>
                <a:latin typeface="Cambria" panose="02040503050406030204" pitchFamily="18" charset="0"/>
                <a:ea typeface="Cambria" panose="02040503050406030204" pitchFamily="18" charset="0"/>
              </a:rPr>
            </a:br>
            <a:r>
              <a:rPr lang="en-US" sz="2400" dirty="0">
                <a:solidFill>
                  <a:schemeClr val="tx1"/>
                </a:solidFill>
                <a:latin typeface="Cambria" panose="02040503050406030204" pitchFamily="18" charset="0"/>
                <a:ea typeface="Cambria" panose="02040503050406030204" pitchFamily="18" charset="0"/>
              </a:rPr>
              <a:t>motivation driven tool for faculty upgradation</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 Md Ziaur Rahman</a:t>
            </a: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107661468"/>
              </p:ext>
            </p:extLst>
          </p:nvPr>
        </p:nvGraphicFramePr>
        <p:xfrm>
          <a:off x="553347" y="2721840"/>
          <a:ext cx="5418675" cy="274326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US" sz="1800" u="none" strike="noStrike" cap="none" dirty="0"/>
                        <a:t>20221CSE0315</a:t>
                      </a:r>
                    </a:p>
                    <a:p>
                      <a:pPr marL="0" marR="0" lvl="0" indent="0" algn="ctr" rtl="0">
                        <a:spcBef>
                          <a:spcPts val="0"/>
                        </a:spcBef>
                        <a:spcAft>
                          <a:spcPts val="0"/>
                        </a:spcAft>
                        <a:buFont typeface="+mj-lt"/>
                        <a:buNone/>
                      </a:pPr>
                      <a:r>
                        <a:rPr lang="en-US" sz="1800" u="none" strike="noStrike" cap="none" dirty="0"/>
                        <a:t>20221CSE0354</a:t>
                      </a:r>
                    </a:p>
                    <a:p>
                      <a:pPr marL="0" marR="0" lvl="0" indent="0" algn="ctr" rtl="0">
                        <a:spcBef>
                          <a:spcPts val="0"/>
                        </a:spcBef>
                        <a:spcAft>
                          <a:spcPts val="0"/>
                        </a:spcAft>
                        <a:buFont typeface="+mj-lt"/>
                        <a:buNone/>
                      </a:pPr>
                      <a:r>
                        <a:rPr lang="en-US" sz="1800" u="none" strike="noStrike" cap="none" dirty="0"/>
                        <a:t>20221CSE0327</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u="none" strike="noStrike" cap="none" dirty="0"/>
                        <a:t>G Syed Luqmaan</a:t>
                      </a:r>
                    </a:p>
                    <a:p>
                      <a:pPr marL="0" marR="0" lvl="0" indent="0" algn="ctr" rtl="0">
                        <a:spcBef>
                          <a:spcPts val="0"/>
                        </a:spcBef>
                        <a:spcAft>
                          <a:spcPts val="0"/>
                        </a:spcAft>
                        <a:buNone/>
                      </a:pPr>
                      <a:r>
                        <a:rPr lang="en-US" sz="1800" u="none" strike="noStrike" cap="none" dirty="0"/>
                        <a:t>Pavan K C</a:t>
                      </a:r>
                    </a:p>
                    <a:p>
                      <a:pPr marL="0" marR="0" lvl="0" indent="0" algn="ctr" rtl="0">
                        <a:spcBef>
                          <a:spcPts val="0"/>
                        </a:spcBef>
                        <a:spcAft>
                          <a:spcPts val="0"/>
                        </a:spcAft>
                        <a:buNone/>
                      </a:pPr>
                      <a:r>
                        <a:rPr lang="en-US" sz="1800" u="none" strike="noStrike" cap="none" dirty="0"/>
                        <a:t>Mohammad Azharuddin B</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Review-5</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Capstone Project</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18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1800" b="1" dirty="0">
                <a:solidFill>
                  <a:schemeClr val="accent1"/>
                </a:solidFill>
                <a:latin typeface="Cambria" panose="02040503050406030204" pitchFamily="18" charset="0"/>
                <a:ea typeface="Cambria" panose="02040503050406030204" pitchFamily="18" charset="0"/>
                <a:cs typeface="Verdana"/>
                <a:sym typeface="Verdana"/>
              </a:rPr>
              <a:t>: </a:t>
            </a:r>
            <a:r>
              <a:rPr lang="en-US" sz="1800" b="1" dirty="0">
                <a:solidFill>
                  <a:schemeClr val="tx1"/>
                </a:solidFill>
                <a:latin typeface="Cambria" panose="02040503050406030204" pitchFamily="18" charset="0"/>
                <a:ea typeface="Cambria" panose="02040503050406030204" pitchFamily="18" charset="0"/>
                <a:cs typeface="Verdana"/>
                <a:sym typeface="Verdana"/>
              </a:rPr>
              <a:t>Dr Asif Mohammed</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dirty="0" err="1">
                <a:solidFill>
                  <a:schemeClr val="tx1"/>
                </a:solidFill>
                <a:latin typeface="Cambria" panose="02040503050406030204" pitchFamily="18" charset="0"/>
                <a:ea typeface="Cambria" panose="02040503050406030204" pitchFamily="18" charset="0"/>
                <a:cs typeface="Verdana"/>
                <a:sym typeface="Verdana"/>
              </a:rPr>
              <a:t>Jayavadivel</a:t>
            </a:r>
            <a:r>
              <a:rPr lang="en-US" sz="1800" b="1" dirty="0">
                <a:solidFill>
                  <a:schemeClr val="tx1"/>
                </a:solidFill>
                <a:latin typeface="Cambria" panose="02040503050406030204" pitchFamily="18" charset="0"/>
                <a:ea typeface="Cambria" panose="02040503050406030204" pitchFamily="18" charset="0"/>
                <a:cs typeface="Verdana"/>
                <a:sym typeface="Verdana"/>
              </a:rPr>
              <a:t> Ravi</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Software</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Problem Description: </a:t>
            </a:r>
            <a:r>
              <a:rPr lang="en-US" dirty="0">
                <a:latin typeface="Times New Roman" panose="02020603050405020304" pitchFamily="18" charset="0"/>
                <a:cs typeface="Times New Roman" panose="02020603050405020304" pitchFamily="18" charset="0"/>
              </a:rPr>
              <a:t>Capacity building, performance assessment and motivation driven tool for faculty upgradation</a:t>
            </a:r>
            <a:endParaRPr lang="en-US"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5213096" cy="4953000"/>
          </a:xfrm>
          <a:prstGeom prst="rect">
            <a:avLst/>
          </a:prstGeom>
          <a:noFill/>
          <a:ln>
            <a:noFill/>
          </a:ln>
        </p:spPr>
        <p:txBody>
          <a:bodyPr spcFirstLastPara="1" wrap="square" lIns="91425" tIns="45700" rIns="91425" bIns="45700" anchor="t" anchorCtr="0">
            <a:normAutofit lnSpcReduction="10000"/>
          </a:bodyPr>
          <a:lstStyle/>
          <a:p>
            <a:pPr marL="342900" lvl="0" indent="-190500" algn="just" rtl="0">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Technology Stack Components:</a:t>
            </a:r>
          </a:p>
          <a:p>
            <a:pPr marL="342900" lvl="0" indent="-190500" algn="just" rtl="0">
              <a:spcBef>
                <a:spcPts val="0"/>
              </a:spcBef>
              <a:spcAft>
                <a:spcPts val="0"/>
              </a:spcAft>
              <a:buClr>
                <a:schemeClr val="dk1"/>
              </a:buClr>
              <a:buSzPct val="100000"/>
              <a:buNone/>
            </a:pPr>
            <a:endParaRPr lang="en-US" sz="1100" dirty="0">
              <a:latin typeface="Cambria" panose="02040503050406030204" pitchFamily="18" charset="0"/>
              <a:ea typeface="Cambria" panose="02040503050406030204" pitchFamily="18" charset="0"/>
            </a:endParaRPr>
          </a:p>
          <a:p>
            <a:pPr marL="495300" indent="-342900" algn="just">
              <a:spcBef>
                <a:spcPts val="0"/>
              </a:spcBef>
              <a:buSzPct val="100000"/>
              <a:buFont typeface="Wingdings" panose="05000000000000000000" pitchFamily="2" charset="2"/>
              <a:buChar char="Ø"/>
            </a:pPr>
            <a:r>
              <a:rPr lang="en-US" dirty="0">
                <a:latin typeface="Cambria" panose="02040503050406030204" pitchFamily="18" charset="0"/>
                <a:ea typeface="Cambria" panose="02040503050406030204" pitchFamily="18" charset="0"/>
              </a:rPr>
              <a:t>Next </a:t>
            </a:r>
            <a:r>
              <a:rPr lang="en-US" dirty="0" err="1">
                <a:latin typeface="Cambria" panose="02040503050406030204" pitchFamily="18" charset="0"/>
                <a:ea typeface="Cambria" panose="02040503050406030204" pitchFamily="18" charset="0"/>
              </a:rPr>
              <a:t>js</a:t>
            </a:r>
            <a:r>
              <a:rPr lang="en-US" dirty="0">
                <a:latin typeface="Cambria" panose="02040503050406030204" pitchFamily="18" charset="0"/>
                <a:ea typeface="Cambria" panose="02040503050406030204" pitchFamily="18" charset="0"/>
              </a:rPr>
              <a:t> for frontend</a:t>
            </a:r>
          </a:p>
          <a:p>
            <a:pPr marL="495300" indent="-342900" algn="just">
              <a:spcBef>
                <a:spcPts val="0"/>
              </a:spcBef>
              <a:buSzPct val="100000"/>
              <a:buFont typeface="Wingdings" panose="05000000000000000000" pitchFamily="2" charset="2"/>
              <a:buChar char="Ø"/>
            </a:pPr>
            <a:r>
              <a:rPr lang="en-US" dirty="0">
                <a:latin typeface="Cambria" panose="02040503050406030204" pitchFamily="18" charset="0"/>
                <a:ea typeface="Cambria" panose="02040503050406030204" pitchFamily="18" charset="0"/>
              </a:rPr>
              <a:t>Express </a:t>
            </a:r>
            <a:r>
              <a:rPr lang="en-US" dirty="0" err="1">
                <a:latin typeface="Cambria" panose="02040503050406030204" pitchFamily="18" charset="0"/>
                <a:ea typeface="Cambria" panose="02040503050406030204" pitchFamily="18" charset="0"/>
              </a:rPr>
              <a:t>js</a:t>
            </a:r>
            <a:r>
              <a:rPr lang="en-US" dirty="0">
                <a:latin typeface="Cambria" panose="02040503050406030204" pitchFamily="18" charset="0"/>
                <a:ea typeface="Cambria" panose="02040503050406030204" pitchFamily="18" charset="0"/>
              </a:rPr>
              <a:t> for backend and </a:t>
            </a:r>
            <a:r>
              <a:rPr lang="en-US" dirty="0" err="1">
                <a:latin typeface="Cambria" panose="02040503050406030204" pitchFamily="18" charset="0"/>
                <a:ea typeface="Cambria" panose="02040503050406030204" pitchFamily="18" charset="0"/>
              </a:rPr>
              <a:t>api</a:t>
            </a:r>
            <a:r>
              <a:rPr lang="en-US" dirty="0">
                <a:latin typeface="Cambria" panose="02040503050406030204" pitchFamily="18" charset="0"/>
                <a:ea typeface="Cambria" panose="02040503050406030204" pitchFamily="18" charset="0"/>
              </a:rPr>
              <a:t> management</a:t>
            </a:r>
          </a:p>
          <a:p>
            <a:pPr marL="495300" indent="-342900" algn="just">
              <a:spcBef>
                <a:spcPts val="0"/>
              </a:spcBef>
              <a:buSzPct val="100000"/>
              <a:buFont typeface="Wingdings" panose="05000000000000000000" pitchFamily="2" charset="2"/>
              <a:buChar char="Ø"/>
            </a:pPr>
            <a:r>
              <a:rPr lang="en-US" dirty="0">
                <a:latin typeface="Cambria" panose="02040503050406030204" pitchFamily="18" charset="0"/>
                <a:ea typeface="Cambria" panose="02040503050406030204" pitchFamily="18" charset="0"/>
              </a:rPr>
              <a:t>Mongo DB for storage</a:t>
            </a:r>
          </a:p>
          <a:p>
            <a:pPr marL="495300" indent="-342900" algn="just">
              <a:spcBef>
                <a:spcPts val="0"/>
              </a:spcBef>
              <a:buSzPct val="100000"/>
              <a:buFont typeface="Wingdings" panose="05000000000000000000" pitchFamily="2" charset="2"/>
              <a:buChar char="Ø"/>
            </a:pPr>
            <a:r>
              <a:rPr lang="en-US" dirty="0">
                <a:latin typeface="Cambria" panose="02040503050406030204" pitchFamily="18" charset="0"/>
                <a:ea typeface="Cambria" panose="02040503050406030204" pitchFamily="18" charset="0"/>
              </a:rPr>
              <a:t>Node for run time environment</a:t>
            </a:r>
          </a:p>
          <a:p>
            <a:pPr marL="495300" indent="-342900" algn="just">
              <a:spcBef>
                <a:spcPts val="0"/>
              </a:spcBef>
              <a:buSzPct val="100000"/>
              <a:buFont typeface="Wingdings" panose="05000000000000000000" pitchFamily="2" charset="2"/>
              <a:buChar char="Ø"/>
            </a:pPr>
            <a:r>
              <a:rPr lang="en-US" dirty="0">
                <a:latin typeface="Cambria" panose="02040503050406030204" pitchFamily="18" charset="0"/>
                <a:ea typeface="Cambria" panose="02040503050406030204" pitchFamily="18" charset="0"/>
              </a:rPr>
              <a:t>AWS S3 for file storage </a:t>
            </a:r>
          </a:p>
          <a:p>
            <a:pPr marL="495300" indent="-342900" algn="just">
              <a:spcBef>
                <a:spcPts val="0"/>
              </a:spcBef>
              <a:buSzPct val="100000"/>
              <a:buFont typeface="Wingdings" panose="05000000000000000000" pitchFamily="2" charset="2"/>
              <a:buChar char="Ø"/>
            </a:pPr>
            <a:r>
              <a:rPr lang="en-US" dirty="0">
                <a:latin typeface="Cambria" panose="02040503050406030204" pitchFamily="18" charset="0"/>
                <a:ea typeface="Cambria" panose="02040503050406030204" pitchFamily="18" charset="0"/>
              </a:rPr>
              <a:t>AWS SNS for notification service</a:t>
            </a:r>
          </a:p>
          <a:p>
            <a:pPr marL="495300" indent="-342900" algn="just">
              <a:spcBef>
                <a:spcPts val="0"/>
              </a:spcBef>
              <a:buSzPct val="100000"/>
              <a:buFont typeface="Wingdings" panose="05000000000000000000" pitchFamily="2" charset="2"/>
              <a:buChar char="Ø"/>
            </a:pPr>
            <a:r>
              <a:rPr lang="en-US" dirty="0">
                <a:latin typeface="Cambria" panose="02040503050406030204" pitchFamily="18" charset="0"/>
                <a:ea typeface="Cambria" panose="02040503050406030204" pitchFamily="18" charset="0"/>
              </a:rPr>
              <a:t>Custom Email service </a:t>
            </a:r>
          </a:p>
          <a:p>
            <a:pPr marL="495300" indent="-342900" algn="just">
              <a:spcBef>
                <a:spcPts val="0"/>
              </a:spcBef>
              <a:buSzPct val="100000"/>
              <a:buFont typeface="Wingdings" panose="05000000000000000000" pitchFamily="2" charset="2"/>
              <a:buChar char="Ø"/>
            </a:pPr>
            <a:r>
              <a:rPr lang="en-US" dirty="0">
                <a:latin typeface="Cambria" panose="02040503050406030204" pitchFamily="18" charset="0"/>
                <a:ea typeface="Cambria" panose="02040503050406030204" pitchFamily="18" charset="0"/>
              </a:rPr>
              <a:t>Custom video transcoder and HLS </a:t>
            </a:r>
          </a:p>
          <a:p>
            <a:pPr marL="495300" indent="-342900" algn="just">
              <a:spcBef>
                <a:spcPts val="0"/>
              </a:spcBef>
              <a:buSzPct val="100000"/>
              <a:buFont typeface="Wingdings" panose="05000000000000000000" pitchFamily="2" charset="2"/>
              <a:buChar char="Ø"/>
            </a:pPr>
            <a:r>
              <a:rPr lang="en-US" dirty="0">
                <a:latin typeface="Cambria" panose="02040503050406030204" pitchFamily="18" charset="0"/>
                <a:ea typeface="Cambria" panose="02040503050406030204" pitchFamily="18" charset="0"/>
              </a:rPr>
              <a:t>Docker for containerization</a:t>
            </a:r>
          </a:p>
          <a:p>
            <a:pPr marL="495300" indent="-342900" algn="just">
              <a:spcBef>
                <a:spcPts val="0"/>
              </a:spcBef>
              <a:buSzPct val="100000"/>
              <a:buFont typeface="Wingdings" panose="05000000000000000000" pitchFamily="2" charset="2"/>
              <a:buChar char="Ø"/>
            </a:pPr>
            <a:r>
              <a:rPr lang="en-US" dirty="0">
                <a:latin typeface="Cambria" panose="02040503050406030204" pitchFamily="18" charset="0"/>
                <a:ea typeface="Cambria" panose="02040503050406030204" pitchFamily="18" charset="0"/>
              </a:rPr>
              <a:t>Kubernetes for container orchestration</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2" name="Google Shape;115;p17">
            <a:extLst>
              <a:ext uri="{FF2B5EF4-FFF2-40B4-BE49-F238E27FC236}">
                <a16:creationId xmlns:a16="http://schemas.microsoft.com/office/drawing/2014/main" id="{B0B721ED-9B09-7314-7B14-FF8FBA5888F1}"/>
              </a:ext>
            </a:extLst>
          </p:cNvPr>
          <p:cNvSpPr txBox="1">
            <a:spLocks/>
          </p:cNvSpPr>
          <p:nvPr/>
        </p:nvSpPr>
        <p:spPr>
          <a:xfrm>
            <a:off x="6025896" y="1143000"/>
            <a:ext cx="5213096"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Technology Stack Components:</a:t>
            </a:r>
          </a:p>
          <a:p>
            <a:pPr marL="342900" indent="-190500" algn="just">
              <a:spcBef>
                <a:spcPts val="0"/>
              </a:spcBef>
              <a:buSzPct val="100000"/>
              <a:buFont typeface="Arial"/>
              <a:buNone/>
            </a:pPr>
            <a:endParaRPr lang="en-US" sz="1000" dirty="0">
              <a:latin typeface="Cambria" panose="02040503050406030204" pitchFamily="18" charset="0"/>
              <a:ea typeface="Cambria" panose="02040503050406030204" pitchFamily="18" charset="0"/>
            </a:endParaRPr>
          </a:p>
          <a:p>
            <a:pPr marL="495300" indent="-342900" algn="just">
              <a:spcBef>
                <a:spcPts val="0"/>
              </a:spcBef>
              <a:buSzPct val="100000"/>
              <a:buFont typeface="Wingdings" panose="05000000000000000000" pitchFamily="2" charset="2"/>
              <a:buChar char="Ø"/>
            </a:pPr>
            <a:r>
              <a:rPr lang="en-US" dirty="0">
                <a:latin typeface="Cambria" panose="02040503050406030204" pitchFamily="18" charset="0"/>
                <a:ea typeface="Cambria" panose="02040503050406030204" pitchFamily="18" charset="0"/>
              </a:rPr>
              <a:t>Redis for efficient caching</a:t>
            </a:r>
          </a:p>
          <a:p>
            <a:pPr marL="495300" indent="-342900" algn="just">
              <a:spcBef>
                <a:spcPts val="0"/>
              </a:spcBef>
              <a:buSzPct val="100000"/>
              <a:buFont typeface="Wingdings" panose="05000000000000000000" pitchFamily="2" charset="2"/>
              <a:buChar char="Ø"/>
            </a:pPr>
            <a:r>
              <a:rPr lang="en-US" dirty="0" err="1">
                <a:latin typeface="Cambria" panose="02040503050406030204" pitchFamily="18" charset="0"/>
                <a:ea typeface="Cambria" panose="02040503050406030204" pitchFamily="18" charset="0"/>
              </a:rPr>
              <a:t>Qdrant</a:t>
            </a:r>
            <a:r>
              <a:rPr lang="en-US" dirty="0">
                <a:latin typeface="Cambria" panose="02040503050406030204" pitchFamily="18" charset="0"/>
                <a:ea typeface="Cambria" panose="02040503050406030204" pitchFamily="18" charset="0"/>
              </a:rPr>
              <a:t> as vector DB</a:t>
            </a:r>
          </a:p>
          <a:p>
            <a:pPr marL="495300" indent="-342900" algn="just">
              <a:spcBef>
                <a:spcPts val="0"/>
              </a:spcBef>
              <a:buSzPct val="100000"/>
              <a:buFont typeface="Wingdings" panose="05000000000000000000" pitchFamily="2" charset="2"/>
              <a:buChar char="Ø"/>
            </a:pPr>
            <a:r>
              <a:rPr lang="en-US" dirty="0">
                <a:latin typeface="Cambria" panose="02040503050406030204" pitchFamily="18" charset="0"/>
                <a:ea typeface="Cambria" panose="02040503050406030204" pitchFamily="18" charset="0"/>
              </a:rPr>
              <a:t>CI/CD for automatic deployments</a:t>
            </a: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r>
              <a:rPr lang="en-US" b="1" dirty="0">
                <a:solidFill>
                  <a:schemeClr val="accent2">
                    <a:lumMod val="75000"/>
                  </a:schemeClr>
                </a:solidFill>
                <a:latin typeface="Cambria" panose="02040503050406030204" pitchFamily="18" charset="0"/>
                <a:ea typeface="Cambria" panose="02040503050406030204" pitchFamily="18" charset="0"/>
              </a:rPr>
              <a:t>                  https://github.com/gsyedluqmaan/cap_LMS_PU</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14;p17">
            <a:extLst>
              <a:ext uri="{FF2B5EF4-FFF2-40B4-BE49-F238E27FC236}">
                <a16:creationId xmlns:a16="http://schemas.microsoft.com/office/drawing/2014/main" id="{77B1CF1B-0BC5-4A82-B860-C13379EE5532}"/>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7" name="Google Shape;115;p17">
            <a:extLst>
              <a:ext uri="{FF2B5EF4-FFF2-40B4-BE49-F238E27FC236}">
                <a16:creationId xmlns:a16="http://schemas.microsoft.com/office/drawing/2014/main" id="{7CA4B60C-69CE-08C3-69D3-9B5FD2D79822}"/>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US" dirty="0">
                <a:latin typeface="Cambria" panose="02040503050406030204" pitchFamily="18" charset="0"/>
                <a:ea typeface="Cambria" panose="02040503050406030204" pitchFamily="18" charset="0"/>
              </a:rPr>
              <a:t>A </a:t>
            </a:r>
            <a:r>
              <a:rPr lang="en-US" b="1" dirty="0">
                <a:latin typeface="Cambria" panose="02040503050406030204" pitchFamily="18" charset="0"/>
                <a:ea typeface="Cambria" panose="02040503050406030204" pitchFamily="18" charset="0"/>
              </a:rPr>
              <a:t>capacity building, performance assessment, and motivation-driven tool for faculty upgradation</a:t>
            </a:r>
            <a:r>
              <a:rPr lang="en-US" dirty="0">
                <a:latin typeface="Cambria" panose="02040503050406030204" pitchFamily="18" charset="0"/>
                <a:ea typeface="Cambria" panose="02040503050406030204" pitchFamily="18" charset="0"/>
              </a:rPr>
              <a:t> focuses on enhancing teaching quality and professional growth. Capacity building ensures faculty gain new skills through structured training and digital tools. Performance assessment provides measurable insights into teaching effectiveness, student engagement, and content delivery, enabling data-driven improvements. The motivation-driven aspect fosters continuous learning by rewarding achievements, recognizing contributions, and offering personalized growth plans. Together, this tool empowers educators to upgrade their skills, align with evolving academic needs, and maintain high teaching standards, ultimately improving student outcomes and strengthening the institution’s overall academic excellence.</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439232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16C0B-EF0A-88ED-CF5F-4C37C3C34230}"/>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Objectives</a:t>
            </a:r>
            <a:endParaRPr lang="en-IN" dirty="0">
              <a:latin typeface="Cambria" panose="02040503050406030204" pitchFamily="18" charset="0"/>
              <a:ea typeface="Cambria" panose="02040503050406030204" pitchFamily="18" charset="0"/>
            </a:endParaRPr>
          </a:p>
        </p:txBody>
      </p:sp>
      <p:sp>
        <p:nvSpPr>
          <p:cNvPr id="4" name="Rectangle 1">
            <a:extLst>
              <a:ext uri="{FF2B5EF4-FFF2-40B4-BE49-F238E27FC236}">
                <a16:creationId xmlns:a16="http://schemas.microsoft.com/office/drawing/2014/main" id="{5C3766B7-561E-886C-BF26-60080EBCD9FF}"/>
              </a:ext>
            </a:extLst>
          </p:cNvPr>
          <p:cNvSpPr>
            <a:spLocks noGrp="1" noChangeArrowheads="1"/>
          </p:cNvSpPr>
          <p:nvPr>
            <p:ph type="body" idx="1"/>
          </p:nvPr>
        </p:nvSpPr>
        <p:spPr bwMode="auto">
          <a:xfrm>
            <a:off x="812800" y="1228396"/>
            <a:ext cx="9654706"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Enhance Faculty Skills</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 Provide structured training modules and resources to strengthen teaching</a:t>
            </a:r>
            <a:r>
              <a:rPr lang="en-US" altLang="en-US" dirty="0">
                <a:solidFill>
                  <a:schemeClr val="tx1"/>
                </a:solidFill>
                <a:latin typeface="Cambria" panose="02040503050406030204" pitchFamily="18" charset="0"/>
                <a:ea typeface="Cambria" panose="02040503050406030204" pitchFamily="18" charset="0"/>
              </a:rPr>
              <a:t> </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and technical competencies.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Assess Performance</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 Implement data-driven evaluation methods to monitor teaching quality,</a:t>
            </a:r>
            <a:r>
              <a:rPr lang="en-US" altLang="en-US" dirty="0">
                <a:solidFill>
                  <a:schemeClr val="tx1"/>
                </a:solidFill>
                <a:latin typeface="Cambria" panose="02040503050406030204" pitchFamily="18" charset="0"/>
                <a:ea typeface="Cambria" panose="02040503050406030204" pitchFamily="18" charset="0"/>
              </a:rPr>
              <a:t> </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student outcomes, and engagement.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Personalized Development</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 Create tailored upskilling plans for each faculty member based on performance insights.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Promote Innovation in Teaching</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 Encourage adoption of AI-driven and modern pedagogical practices.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Institutional Growth</a:t>
            </a: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 Align faculty development with institutional goals to raise overall academic standards.</a:t>
            </a:r>
          </a:p>
        </p:txBody>
      </p:sp>
    </p:spTree>
    <p:extLst>
      <p:ext uri="{BB962C8B-B14F-4D97-AF65-F5344CB8AC3E}">
        <p14:creationId xmlns:p14="http://schemas.microsoft.com/office/powerpoint/2010/main" val="97667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342900" lvl="0" indent="-190500" algn="just">
              <a:lnSpc>
                <a:spcPct val="200000"/>
              </a:lnSpc>
              <a:buClr>
                <a:schemeClr val="dk1"/>
              </a:buClr>
              <a:buSzPct val="100000"/>
            </a:pPr>
            <a:r>
              <a:rPr lang="en-US" dirty="0">
                <a:latin typeface="Cambria" panose="02040503050406030204" pitchFamily="18" charset="0"/>
                <a:ea typeface="Cambria" panose="02040503050406030204" pitchFamily="18" charset="0"/>
              </a:rPr>
              <a:t>Software and Hardware Requirements</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a:buFont typeface="Wingdings" panose="05000000000000000000" pitchFamily="2" charset="2"/>
              <a:buChar char="Ø"/>
            </a:pPr>
            <a:r>
              <a:rPr lang="en-US" sz="1800" dirty="0">
                <a:latin typeface="Cambria" panose="02040503050406030204" pitchFamily="18" charset="0"/>
                <a:ea typeface="Cambria" panose="02040503050406030204" pitchFamily="18" charset="0"/>
              </a:rPr>
              <a:t>Windows 10/11 or MAC OS </a:t>
            </a:r>
            <a:r>
              <a:rPr lang="en-US" sz="1800" dirty="0" err="1">
                <a:latin typeface="Cambria" panose="02040503050406030204" pitchFamily="18" charset="0"/>
                <a:ea typeface="Cambria" panose="02040503050406030204" pitchFamily="18" charset="0"/>
              </a:rPr>
              <a:t>ventura</a:t>
            </a:r>
            <a:r>
              <a:rPr lang="en-US" sz="1800" dirty="0">
                <a:latin typeface="Cambria" panose="02040503050406030204" pitchFamily="18" charset="0"/>
                <a:ea typeface="Cambria" panose="02040503050406030204" pitchFamily="18" charset="0"/>
              </a:rPr>
              <a:t>+ or ubuntu 22+</a:t>
            </a:r>
          </a:p>
          <a:p>
            <a:pPr>
              <a:buFont typeface="Wingdings" panose="05000000000000000000" pitchFamily="2" charset="2"/>
              <a:buChar char="Ø"/>
            </a:pPr>
            <a:r>
              <a:rPr lang="en-US" sz="1800" dirty="0">
                <a:latin typeface="Cambria" panose="02040503050406030204" pitchFamily="18" charset="0"/>
                <a:ea typeface="Cambria" panose="02040503050406030204" pitchFamily="18" charset="0"/>
              </a:rPr>
              <a:t>Node 20.x+</a:t>
            </a:r>
          </a:p>
          <a:p>
            <a:pPr>
              <a:buFont typeface="Wingdings" panose="05000000000000000000" pitchFamily="2" charset="2"/>
              <a:buChar char="Ø"/>
            </a:pPr>
            <a:r>
              <a:rPr lang="en-US" sz="1800" dirty="0">
                <a:latin typeface="Cambria" panose="02040503050406030204" pitchFamily="18" charset="0"/>
                <a:ea typeface="Cambria" panose="02040503050406030204" pitchFamily="18" charset="0"/>
              </a:rPr>
              <a:t>Git</a:t>
            </a:r>
          </a:p>
          <a:p>
            <a:pPr>
              <a:buFont typeface="Wingdings" panose="05000000000000000000" pitchFamily="2" charset="2"/>
              <a:buChar char="Ø"/>
            </a:pPr>
            <a:r>
              <a:rPr lang="en-US" sz="1800" dirty="0">
                <a:latin typeface="Cambria" panose="02040503050406030204" pitchFamily="18" charset="0"/>
                <a:ea typeface="Cambria" panose="02040503050406030204" pitchFamily="18" charset="0"/>
              </a:rPr>
              <a:t>Docker </a:t>
            </a:r>
          </a:p>
          <a:p>
            <a:pPr>
              <a:buFont typeface="Wingdings" panose="05000000000000000000" pitchFamily="2" charset="2"/>
              <a:buChar char="Ø"/>
            </a:pPr>
            <a:r>
              <a:rPr lang="en-US" sz="1800" dirty="0">
                <a:latin typeface="Cambria" panose="02040503050406030204" pitchFamily="18" charset="0"/>
                <a:ea typeface="Cambria" panose="02040503050406030204" pitchFamily="18" charset="0"/>
              </a:rPr>
              <a:t>Kubernetes</a:t>
            </a:r>
          </a:p>
          <a:p>
            <a:pPr>
              <a:buFont typeface="Wingdings" panose="05000000000000000000" pitchFamily="2" charset="2"/>
              <a:buChar char="Ø"/>
            </a:pPr>
            <a:r>
              <a:rPr lang="en-US" sz="1800" dirty="0">
                <a:latin typeface="Cambria" panose="02040503050406030204" pitchFamily="18" charset="0"/>
                <a:ea typeface="Cambria" panose="02040503050406030204" pitchFamily="18" charset="0"/>
              </a:rPr>
              <a:t>Redis</a:t>
            </a:r>
          </a:p>
          <a:p>
            <a:pPr>
              <a:buFont typeface="Wingdings" panose="05000000000000000000" pitchFamily="2" charset="2"/>
              <a:buChar char="Ø"/>
            </a:pPr>
            <a:r>
              <a:rPr lang="en-US" sz="1800" dirty="0">
                <a:latin typeface="Cambria" panose="02040503050406030204" pitchFamily="18" charset="0"/>
                <a:ea typeface="Cambria" panose="02040503050406030204" pitchFamily="18" charset="0"/>
              </a:rPr>
              <a:t>VS code</a:t>
            </a:r>
          </a:p>
          <a:p>
            <a:pPr>
              <a:buFont typeface="Wingdings" panose="05000000000000000000" pitchFamily="2" charset="2"/>
              <a:buChar char="Ø"/>
            </a:pPr>
            <a:r>
              <a:rPr lang="en-US" sz="1800" dirty="0">
                <a:latin typeface="Cambria" panose="02040503050406030204" pitchFamily="18" charset="0"/>
                <a:ea typeface="Cambria" panose="02040503050406030204" pitchFamily="18" charset="0"/>
              </a:rPr>
              <a:t>Express </a:t>
            </a:r>
            <a:r>
              <a:rPr lang="en-US" sz="1800" dirty="0" err="1">
                <a:latin typeface="Cambria" panose="02040503050406030204" pitchFamily="18" charset="0"/>
                <a:ea typeface="Cambria" panose="02040503050406030204" pitchFamily="18" charset="0"/>
              </a:rPr>
              <a:t>js</a:t>
            </a:r>
            <a:endParaRPr lang="en-US" sz="1800"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sz="1800" dirty="0">
                <a:latin typeface="Cambria" panose="02040503050406030204" pitchFamily="18" charset="0"/>
                <a:ea typeface="Cambria" panose="02040503050406030204" pitchFamily="18" charset="0"/>
              </a:rPr>
              <a:t>Next </a:t>
            </a:r>
            <a:r>
              <a:rPr lang="en-US" sz="1800" dirty="0" err="1">
                <a:latin typeface="Cambria" panose="02040503050406030204" pitchFamily="18" charset="0"/>
                <a:ea typeface="Cambria" panose="02040503050406030204" pitchFamily="18" charset="0"/>
              </a:rPr>
              <a:t>js</a:t>
            </a:r>
            <a:endParaRPr lang="en-US" sz="1800"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sz="1800" dirty="0">
                <a:latin typeface="Cambria" panose="02040503050406030204" pitchFamily="18" charset="0"/>
                <a:ea typeface="Cambria" panose="02040503050406030204" pitchFamily="18" charset="0"/>
              </a:rPr>
              <a:t>MongoDB Atlas or Compass</a:t>
            </a:r>
          </a:p>
          <a:p>
            <a:pPr>
              <a:buFont typeface="Wingdings" panose="05000000000000000000" pitchFamily="2" charset="2"/>
              <a:buChar char="Ø"/>
            </a:pPr>
            <a:endParaRPr lang="en-US" sz="18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2" name="Google Shape;115;p17">
            <a:extLst>
              <a:ext uri="{FF2B5EF4-FFF2-40B4-BE49-F238E27FC236}">
                <a16:creationId xmlns:a16="http://schemas.microsoft.com/office/drawing/2014/main" id="{292D3F72-0123-75EE-E50D-93D0BFDB931B}"/>
              </a:ext>
            </a:extLst>
          </p:cNvPr>
          <p:cNvSpPr txBox="1">
            <a:spLocks/>
          </p:cNvSpPr>
          <p:nvPr/>
        </p:nvSpPr>
        <p:spPr>
          <a:xfrm>
            <a:off x="8091424" y="1024128"/>
            <a:ext cx="3183128" cy="299008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495300" indent="-342900" algn="just">
              <a:lnSpc>
                <a:spcPct val="200000"/>
              </a:lnSpc>
              <a:spcBef>
                <a:spcPts val="0"/>
              </a:spcBef>
              <a:buSzPct val="100000"/>
              <a:buFont typeface="Wingdings" panose="05000000000000000000" pitchFamily="2" charset="2"/>
              <a:buChar char="Ø"/>
            </a:pPr>
            <a:r>
              <a:rPr lang="en-US" sz="1800">
                <a:latin typeface="Cambria" panose="02040503050406030204" pitchFamily="18" charset="0"/>
                <a:ea typeface="Cambria" panose="02040503050406030204" pitchFamily="18" charset="0"/>
              </a:rPr>
              <a:t>Mongoose</a:t>
            </a:r>
          </a:p>
          <a:p>
            <a:pPr marL="495300" indent="-342900" algn="just">
              <a:spcBef>
                <a:spcPts val="0"/>
              </a:spcBef>
              <a:buSzPct val="100000"/>
              <a:buFont typeface="Wingdings" panose="05000000000000000000" pitchFamily="2" charset="2"/>
              <a:buChar char="Ø"/>
            </a:pPr>
            <a:r>
              <a:rPr lang="en-US" sz="1800">
                <a:latin typeface="Cambria" panose="02040503050406030204" pitchFamily="18" charset="0"/>
                <a:ea typeface="Cambria" panose="02040503050406030204" pitchFamily="18" charset="0"/>
              </a:rPr>
              <a:t>JWT</a:t>
            </a:r>
          </a:p>
          <a:p>
            <a:pPr marL="495300" indent="-342900" algn="just">
              <a:spcBef>
                <a:spcPts val="0"/>
              </a:spcBef>
              <a:buSzPct val="100000"/>
              <a:buFont typeface="Wingdings" panose="05000000000000000000" pitchFamily="2" charset="2"/>
              <a:buChar char="Ø"/>
            </a:pPr>
            <a:r>
              <a:rPr lang="en-US" sz="1800">
                <a:latin typeface="Cambria" panose="02040503050406030204" pitchFamily="18" charset="0"/>
                <a:ea typeface="Cambria" panose="02040503050406030204" pitchFamily="18" charset="0"/>
              </a:rPr>
              <a:t>Postman</a:t>
            </a:r>
          </a:p>
          <a:p>
            <a:pPr marL="495300" indent="-342900" algn="just">
              <a:spcBef>
                <a:spcPts val="0"/>
              </a:spcBef>
              <a:buSzPct val="100000"/>
              <a:buFont typeface="Wingdings" panose="05000000000000000000" pitchFamily="2" charset="2"/>
              <a:buChar char="Ø"/>
            </a:pPr>
            <a:r>
              <a:rPr lang="en-US" sz="1800">
                <a:latin typeface="Cambria" panose="02040503050406030204" pitchFamily="18" charset="0"/>
                <a:ea typeface="Cambria" panose="02040503050406030204" pitchFamily="18" charset="0"/>
              </a:rPr>
              <a:t>Vercel</a:t>
            </a:r>
          </a:p>
          <a:p>
            <a:pPr marL="495300" indent="-342900" algn="just">
              <a:spcBef>
                <a:spcPts val="0"/>
              </a:spcBef>
              <a:buSzPct val="100000"/>
              <a:buFont typeface="Wingdings" panose="05000000000000000000" pitchFamily="2" charset="2"/>
              <a:buChar char="Ø"/>
            </a:pPr>
            <a:r>
              <a:rPr lang="en-US" sz="1800">
                <a:latin typeface="Cambria" panose="02040503050406030204" pitchFamily="18" charset="0"/>
                <a:ea typeface="Cambria" panose="02040503050406030204" pitchFamily="18" charset="0"/>
              </a:rPr>
              <a:t>Github</a:t>
            </a:r>
          </a:p>
          <a:p>
            <a:pPr marL="495300" indent="-342900" algn="just">
              <a:spcBef>
                <a:spcPts val="0"/>
              </a:spcBef>
              <a:buSzPct val="100000"/>
              <a:buFont typeface="Wingdings" panose="05000000000000000000" pitchFamily="2" charset="2"/>
              <a:buChar char="Ø"/>
            </a:pPr>
            <a:r>
              <a:rPr lang="en-US" sz="1800">
                <a:latin typeface="Cambria" panose="02040503050406030204" pitchFamily="18" charset="0"/>
                <a:ea typeface="Cambria" panose="02040503050406030204" pitchFamily="18" charset="0"/>
              </a:rPr>
              <a:t>AWS S3</a:t>
            </a:r>
          </a:p>
          <a:p>
            <a:pPr marL="495300" indent="-342900" algn="just">
              <a:spcBef>
                <a:spcPts val="0"/>
              </a:spcBef>
              <a:buSzPct val="100000"/>
              <a:buFont typeface="Wingdings" panose="05000000000000000000" pitchFamily="2" charset="2"/>
              <a:buChar char="Ø"/>
            </a:pPr>
            <a:r>
              <a:rPr lang="en-US" sz="1800">
                <a:latin typeface="Cambria" panose="02040503050406030204" pitchFamily="18" charset="0"/>
                <a:ea typeface="Cambria" panose="02040503050406030204" pitchFamily="18" charset="0"/>
              </a:rPr>
              <a:t>AWS SNS</a:t>
            </a:r>
          </a:p>
          <a:p>
            <a:pPr marL="495300" indent="-342900" algn="just">
              <a:spcBef>
                <a:spcPts val="0"/>
              </a:spcBef>
              <a:buSzPct val="100000"/>
              <a:buFont typeface="Wingdings" panose="05000000000000000000" pitchFamily="2" charset="2"/>
              <a:buChar char="Ø"/>
            </a:pPr>
            <a:r>
              <a:rPr lang="en-US" sz="1800">
                <a:latin typeface="Cambria" panose="02040503050406030204" pitchFamily="18" charset="0"/>
                <a:ea typeface="Cambria" panose="02040503050406030204" pitchFamily="18" charset="0"/>
              </a:rPr>
              <a:t>AWS Cloud front</a:t>
            </a:r>
          </a:p>
          <a:p>
            <a:pPr marL="495300" indent="-342900" algn="just">
              <a:spcBef>
                <a:spcPts val="0"/>
              </a:spcBef>
              <a:buSzPct val="100000"/>
              <a:buFont typeface="Wingdings" panose="05000000000000000000" pitchFamily="2" charset="2"/>
              <a:buChar char="Ø"/>
            </a:pPr>
            <a:r>
              <a:rPr lang="en-US" sz="1800">
                <a:latin typeface="Cambria" panose="02040503050406030204" pitchFamily="18" charset="0"/>
                <a:ea typeface="Cambria" panose="02040503050406030204" pitchFamily="18" charset="0"/>
              </a:rPr>
              <a:t>AWS cloudwatch</a:t>
            </a:r>
          </a:p>
          <a:p>
            <a:pPr marL="495300" indent="-342900" algn="just">
              <a:spcBef>
                <a:spcPts val="0"/>
              </a:spcBef>
              <a:buSzPct val="100000"/>
              <a:buFont typeface="Wingdings" panose="05000000000000000000" pitchFamily="2" charset="2"/>
              <a:buChar char="Ø"/>
            </a:pPr>
            <a:endParaRPr lang="en-US"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66E14BD1-F824-312B-A95E-0F235415737E}"/>
              </a:ext>
            </a:extLst>
          </p:cNvPr>
          <p:cNvPicPr>
            <a:picLocks noChangeAspect="1"/>
          </p:cNvPicPr>
          <p:nvPr/>
        </p:nvPicPr>
        <p:blipFill>
          <a:blip r:embed="rId3"/>
          <a:stretch>
            <a:fillRect/>
          </a:stretch>
        </p:blipFill>
        <p:spPr>
          <a:xfrm>
            <a:off x="0" y="840558"/>
            <a:ext cx="12192000" cy="5176884"/>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pPr marL="609600" lvl="1" indent="0">
              <a:spcBef>
                <a:spcPts val="0"/>
              </a:spcBef>
              <a:buNone/>
            </a:pPr>
            <a:r>
              <a:rPr lang="en-US" dirty="0"/>
              <a:t>[1]. </a:t>
            </a:r>
            <a:r>
              <a:rPr lang="en-US" dirty="0" err="1"/>
              <a:t>Gyankosh</a:t>
            </a:r>
            <a:r>
              <a:rPr lang="en-US" dirty="0"/>
              <a:t> – </a:t>
            </a:r>
            <a:r>
              <a:rPr lang="en-US" dirty="0">
                <a:hlinkClick r:id="rId3"/>
              </a:rPr>
              <a:t>www.thegyankosh.com</a:t>
            </a:r>
            <a:r>
              <a:rPr lang="en-US" dirty="0"/>
              <a:t> – World’s most advanced LMS</a:t>
            </a:r>
          </a:p>
          <a:p>
            <a:pPr marL="609600" lvl="1" indent="0">
              <a:spcBef>
                <a:spcPts val="0"/>
              </a:spcBef>
              <a:buNone/>
            </a:pPr>
            <a:endParaRPr lang="en-US" sz="1000" dirty="0"/>
          </a:p>
          <a:p>
            <a:pPr marL="609600" lvl="1" indent="0">
              <a:spcBef>
                <a:spcPts val="0"/>
              </a:spcBef>
              <a:buNone/>
            </a:pPr>
            <a:r>
              <a:rPr lang="en-US" dirty="0">
                <a:latin typeface="Verdana" panose="020B0604030504040204" pitchFamily="34" charset="0"/>
                <a:ea typeface="Verdana" panose="020B0604030504040204" pitchFamily="34" charset="0"/>
              </a:rPr>
              <a:t>[2]. Moodle - moodle.org</a:t>
            </a:r>
          </a:p>
          <a:p>
            <a:pPr marL="609600" lvl="1" indent="0">
              <a:spcBef>
                <a:spcPts val="0"/>
              </a:spcBef>
              <a:buNone/>
            </a:pPr>
            <a:endParaRPr lang="en-US" sz="1000" dirty="0">
              <a:latin typeface="Verdana" panose="020B0604030504040204" pitchFamily="34" charset="0"/>
              <a:ea typeface="Verdana" panose="020B0604030504040204" pitchFamily="34" charset="0"/>
            </a:endParaRPr>
          </a:p>
          <a:p>
            <a:pPr marL="609600" lvl="1" indent="0">
              <a:spcBef>
                <a:spcPts val="0"/>
              </a:spcBef>
              <a:buNone/>
            </a:pPr>
            <a:r>
              <a:rPr lang="en-US" dirty="0">
                <a:latin typeface="Verdana" panose="020B0604030504040204" pitchFamily="34" charset="0"/>
                <a:ea typeface="Verdana" panose="020B0604030504040204" pitchFamily="34" charset="0"/>
              </a:rPr>
              <a:t>[3]. Next Element - nextelement.in</a:t>
            </a:r>
          </a:p>
          <a:p>
            <a:pPr marL="152400" indent="0">
              <a:spcBef>
                <a:spcPts val="0"/>
              </a:spcBef>
              <a:buNone/>
            </a:pPr>
            <a:r>
              <a:rPr lang="en-US" dirty="0">
                <a:latin typeface="Cambria" panose="02040503050406030204" pitchFamily="18" charset="0"/>
                <a:ea typeface="Cambria" panose="02040503050406030204" pitchFamily="18" charset="0"/>
              </a:rPr>
              <a:t>       </a:t>
            </a: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433</TotalTime>
  <Words>550</Words>
  <Application>Microsoft Office PowerPoint</Application>
  <PresentationFormat>Widescreen</PresentationFormat>
  <Paragraphs>121</Paragraphs>
  <Slides>12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Cambria</vt:lpstr>
      <vt:lpstr>Times New Roman</vt:lpstr>
      <vt:lpstr>Verdana</vt:lpstr>
      <vt:lpstr>Wingdings</vt:lpstr>
      <vt:lpstr>Bioinformatics</vt:lpstr>
      <vt:lpstr>PSCS_162 Capacity building, performance assessment and  motivation driven tool for faculty upgradation</vt:lpstr>
      <vt:lpstr>Problem Statement Number: </vt:lpstr>
      <vt:lpstr>Content</vt:lpstr>
      <vt:lpstr>Content (continuation)..</vt:lpstr>
      <vt:lpstr>Analysis of Problem Statement</vt:lpstr>
      <vt:lpstr>Github Link</vt:lpstr>
      <vt:lpstr>Analysis of Problem Statement</vt:lpstr>
      <vt:lpstr>Objectives</vt:lpstr>
      <vt:lpstr>Software and Hardware Requirements</vt:lpstr>
      <vt:lpstr>Timeline of the Project (Gantt Chart)</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G Syed Luqmaan</cp:lastModifiedBy>
  <cp:revision>47</cp:revision>
  <dcterms:modified xsi:type="dcterms:W3CDTF">2025-11-27T14:48:00Z</dcterms:modified>
</cp:coreProperties>
</file>